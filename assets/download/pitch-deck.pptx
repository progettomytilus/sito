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East Sea Dokdo Cyrillic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1218" t="-1170" r="0" b="-11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0365" y="2669099"/>
            <a:ext cx="2156061" cy="1735292"/>
          </a:xfrm>
          <a:custGeom>
            <a:avLst/>
            <a:gdLst/>
            <a:ahLst/>
            <a:cxnLst/>
            <a:rect r="r" b="b" t="t" l="l"/>
            <a:pathLst>
              <a:path h="1735292" w="2156061">
                <a:moveTo>
                  <a:pt x="0" y="0"/>
                </a:moveTo>
                <a:lnTo>
                  <a:pt x="2156061" y="0"/>
                </a:lnTo>
                <a:lnTo>
                  <a:pt x="2156061" y="1735293"/>
                </a:lnTo>
                <a:lnTo>
                  <a:pt x="0" y="1735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352" t="-4647" r="-12241" b="-1843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9542" y="2669099"/>
            <a:ext cx="13488915" cy="4948801"/>
          </a:xfrm>
          <a:custGeom>
            <a:avLst/>
            <a:gdLst/>
            <a:ahLst/>
            <a:cxnLst/>
            <a:rect r="r" b="b" t="t" l="l"/>
            <a:pathLst>
              <a:path h="4948801" w="13488915">
                <a:moveTo>
                  <a:pt x="0" y="0"/>
                </a:moveTo>
                <a:lnTo>
                  <a:pt x="13488916" y="0"/>
                </a:lnTo>
                <a:lnTo>
                  <a:pt x="13488916" y="4948802"/>
                </a:lnTo>
                <a:lnTo>
                  <a:pt x="0" y="4948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373" t="-26520" r="-9026" b="-953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0968" t="-1065" r="0" b="-10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53880" y="-16953"/>
            <a:ext cx="2091306" cy="2091306"/>
          </a:xfrm>
          <a:custGeom>
            <a:avLst/>
            <a:gdLst/>
            <a:ahLst/>
            <a:cxnLst/>
            <a:rect r="r" b="b" t="t" l="l"/>
            <a:pathLst>
              <a:path h="2091306" w="2091306">
                <a:moveTo>
                  <a:pt x="0" y="0"/>
                </a:moveTo>
                <a:lnTo>
                  <a:pt x="2091305" y="0"/>
                </a:lnTo>
                <a:lnTo>
                  <a:pt x="2091305" y="2091306"/>
                </a:lnTo>
                <a:lnTo>
                  <a:pt x="0" y="2091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9781">
            <a:off x="6463970" y="7801867"/>
            <a:ext cx="5135151" cy="700248"/>
          </a:xfrm>
          <a:custGeom>
            <a:avLst/>
            <a:gdLst/>
            <a:ahLst/>
            <a:cxnLst/>
            <a:rect r="r" b="b" t="t" l="l"/>
            <a:pathLst>
              <a:path h="700248" w="5135151">
                <a:moveTo>
                  <a:pt x="0" y="0"/>
                </a:moveTo>
                <a:lnTo>
                  <a:pt x="5135151" y="0"/>
                </a:lnTo>
                <a:lnTo>
                  <a:pt x="5135151" y="700248"/>
                </a:lnTo>
                <a:lnTo>
                  <a:pt x="0" y="700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52312">
            <a:off x="6764136" y="5668262"/>
            <a:ext cx="4759728" cy="4967458"/>
          </a:xfrm>
          <a:custGeom>
            <a:avLst/>
            <a:gdLst/>
            <a:ahLst/>
            <a:cxnLst/>
            <a:rect r="r" b="b" t="t" l="l"/>
            <a:pathLst>
              <a:path h="4967458" w="4759728">
                <a:moveTo>
                  <a:pt x="0" y="0"/>
                </a:moveTo>
                <a:lnTo>
                  <a:pt x="4759728" y="0"/>
                </a:lnTo>
                <a:lnTo>
                  <a:pt x="4759728" y="4967458"/>
                </a:lnTo>
                <a:lnTo>
                  <a:pt x="0" y="4967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12130" y="-998150"/>
            <a:ext cx="4553010" cy="36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6"/>
              </a:lnSpc>
            </a:pPr>
            <a:r>
              <a:rPr lang="en-US" sz="18868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L’idea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057" y="6791095"/>
            <a:ext cx="5262951" cy="120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Dalla polvere di guscio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68396" y="8077200"/>
            <a:ext cx="4764571" cy="120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alle infrastrutture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067048"/>
            <a:ext cx="18288000" cy="229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Produzione di polvere di carbonato di calcio provenienti da gusci di mitili per malte destinate allo stampaggio 3D per l’edilizia </a:t>
            </a:r>
            <a:r>
              <a:rPr lang="en-US" sz="61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0968" t="-1065" r="0" b="-10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94111" y="352137"/>
            <a:ext cx="2580858" cy="1719497"/>
          </a:xfrm>
          <a:custGeom>
            <a:avLst/>
            <a:gdLst/>
            <a:ahLst/>
            <a:cxnLst/>
            <a:rect r="r" b="b" t="t" l="l"/>
            <a:pathLst>
              <a:path h="1719497" w="2580858">
                <a:moveTo>
                  <a:pt x="0" y="0"/>
                </a:moveTo>
                <a:lnTo>
                  <a:pt x="2580858" y="0"/>
                </a:lnTo>
                <a:lnTo>
                  <a:pt x="2580858" y="1719497"/>
                </a:lnTo>
                <a:lnTo>
                  <a:pt x="0" y="1719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09773" y="-947573"/>
            <a:ext cx="8355925" cy="36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6"/>
              </a:lnSpc>
            </a:pPr>
            <a:r>
              <a:rPr lang="en-US" sz="18868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Il 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4477" y="3451276"/>
            <a:ext cx="13799046" cy="115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Vogliamo ridurre l’inquinamento con una soluzione perfetta!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4477" y="4486735"/>
            <a:ext cx="8916888" cy="115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Vogliamo valorizzare le nostre risorse!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563" y="5524961"/>
            <a:ext cx="9793188" cy="115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Vogliamo far conoscere metodi alternativi!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4477" y="6563188"/>
            <a:ext cx="5772894" cy="115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Vogliamo ridurre i tempi!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0968" t="-1065" r="0" b="-10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92815" y="597789"/>
            <a:ext cx="2331001" cy="1402063"/>
          </a:xfrm>
          <a:custGeom>
            <a:avLst/>
            <a:gdLst/>
            <a:ahLst/>
            <a:cxnLst/>
            <a:rect r="r" b="b" t="t" l="l"/>
            <a:pathLst>
              <a:path h="1402063" w="2331001">
                <a:moveTo>
                  <a:pt x="0" y="0"/>
                </a:moveTo>
                <a:lnTo>
                  <a:pt x="2331000" y="0"/>
                </a:lnTo>
                <a:lnTo>
                  <a:pt x="2331000" y="1402063"/>
                </a:lnTo>
                <a:lnTo>
                  <a:pt x="0" y="1402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668" r="0" b="-3158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63027" y="-947573"/>
            <a:ext cx="8449419" cy="36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6"/>
              </a:lnSpc>
            </a:pPr>
            <a:r>
              <a:rPr lang="en-US" sz="18868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La soluzione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7742" y="3140378"/>
            <a:ext cx="1457406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87443" indent="-593721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Utilizzeremo gusci di mitili per produrre cemento sostenibile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7742" y="4120277"/>
            <a:ext cx="15332517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87443" indent="-593721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I gusci verrano presi in Italia e non, ma tutto partira’da Taranto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178" y="5104528"/>
            <a:ext cx="15231033" cy="20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87443" indent="-593721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Il cemento puo’ essere sostenibile, ed il carbonato di calcio puo’essere utilizzato sotto altre forme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7742" y="7142879"/>
            <a:ext cx="15237470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87443" indent="-593721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La produzione del cemento sostenibile impiega il 50% in meno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0968" t="-1065" r="0" b="-10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94917" y="383428"/>
            <a:ext cx="1964383" cy="1964383"/>
          </a:xfrm>
          <a:custGeom>
            <a:avLst/>
            <a:gdLst/>
            <a:ahLst/>
            <a:cxnLst/>
            <a:rect r="r" b="b" t="t" l="l"/>
            <a:pathLst>
              <a:path h="1964383" w="1964383">
                <a:moveTo>
                  <a:pt x="0" y="0"/>
                </a:moveTo>
                <a:lnTo>
                  <a:pt x="1964383" y="0"/>
                </a:lnTo>
                <a:lnTo>
                  <a:pt x="1964383" y="1964382"/>
                </a:lnTo>
                <a:lnTo>
                  <a:pt x="0" y="1964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-960863"/>
            <a:ext cx="14176534" cy="36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6"/>
              </a:lnSpc>
            </a:pPr>
            <a:r>
              <a:rPr lang="en-US" sz="18868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Grandezza Mercato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138260"/>
            <a:ext cx="18288000" cy="787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Valore di mercato globale Circa 22-25 miliardi</a:t>
            </a:r>
          </a:p>
          <a:p>
            <a:pPr algn="l" marL="1057906" indent="-528953" lvl="1">
              <a:lnSpc>
                <a:spcPts val="6859"/>
              </a:lnSpc>
              <a:buFont typeface="Arial"/>
              <a:buChar char="•"/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Tasso di crescita annuo composto (CAGR 2024-2030): Stimato tra il 5% e il 7%</a:t>
            </a:r>
          </a:p>
          <a:p>
            <a:pPr algn="l" marL="1079496" indent="-539748" lvl="1">
              <a:lnSpc>
                <a:spcPts val="6999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Quota del settore edile: l'edilizia e’ uno dei settori chiave, rappresentando circa 15-20% della domanda globale totale, </a:t>
            </a:r>
            <a:r>
              <a:rPr lang="en-US" sz="4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mercato edile specifico</a:t>
            </a:r>
            <a:r>
              <a:rPr lang="en-US" sz="49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 di circa 3.5 - 5 miliardi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Driver di crescita nel settore edile</a:t>
            </a: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:</a:t>
            </a:r>
          </a:p>
          <a:p>
            <a:pPr algn="l" marL="1057906" indent="-528953" lvl="1">
              <a:lnSpc>
                <a:spcPts val="6859"/>
              </a:lnSpc>
              <a:buFont typeface="Arial"/>
              <a:buChar char="•"/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Costruzione di infrastrutture nei paesi emergenti</a:t>
            </a:r>
          </a:p>
          <a:p>
            <a:pPr algn="l" marL="1057906" indent="-528953" lvl="1">
              <a:lnSpc>
                <a:spcPts val="6859"/>
              </a:lnSpc>
              <a:spcBef>
                <a:spcPct val="0"/>
              </a:spcBef>
              <a:buFont typeface="Arial"/>
              <a:buChar char="•"/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Ripresa e ristrutturazione nel mondo sviluppato</a:t>
            </a:r>
          </a:p>
          <a:p>
            <a:pPr algn="l" marL="1057906" indent="-528953" lvl="1">
              <a:lnSpc>
                <a:spcPts val="6859"/>
              </a:lnSpc>
              <a:buFont typeface="Arial"/>
              <a:buChar char="•"/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Tendenza verso materiali da costruzione "verdi" e sostenibili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0968" t="-1065" r="0" b="-10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97970" y="370137"/>
            <a:ext cx="1671987" cy="1671987"/>
          </a:xfrm>
          <a:custGeom>
            <a:avLst/>
            <a:gdLst/>
            <a:ahLst/>
            <a:cxnLst/>
            <a:rect r="r" b="b" t="t" l="l"/>
            <a:pathLst>
              <a:path h="1671987" w="1671987">
                <a:moveTo>
                  <a:pt x="0" y="0"/>
                </a:moveTo>
                <a:lnTo>
                  <a:pt x="1671987" y="0"/>
                </a:lnTo>
                <a:lnTo>
                  <a:pt x="1671987" y="1671987"/>
                </a:lnTo>
                <a:lnTo>
                  <a:pt x="0" y="167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7503" y="-947573"/>
            <a:ext cx="8020467" cy="36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6"/>
              </a:lnSpc>
            </a:pPr>
            <a:r>
              <a:rPr lang="en-US" sz="18868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Competitor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80607"/>
            <a:ext cx="16457369" cy="382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W3DS - Wast3dshells: trasformano i gusci di cozze in un pongo modellabile. Utilizzando il carbonato di calcio estratto dai gusci e un addensante alimentare, hanno creato un materiale innovativo e sostenibile.</a:t>
            </a:r>
          </a:p>
          <a:p>
            <a:pPr algn="ctr">
              <a:lnSpc>
                <a:spcPts val="74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0968" t="-1065" r="0" b="-10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62536" y="-205560"/>
            <a:ext cx="2468520" cy="2468520"/>
          </a:xfrm>
          <a:custGeom>
            <a:avLst/>
            <a:gdLst/>
            <a:ahLst/>
            <a:cxnLst/>
            <a:rect r="r" b="b" t="t" l="l"/>
            <a:pathLst>
              <a:path h="2468520" w="2468520">
                <a:moveTo>
                  <a:pt x="0" y="0"/>
                </a:moveTo>
                <a:lnTo>
                  <a:pt x="2468520" y="0"/>
                </a:lnTo>
                <a:lnTo>
                  <a:pt x="2468520" y="2468520"/>
                </a:lnTo>
                <a:lnTo>
                  <a:pt x="0" y="246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26658" y="1504435"/>
            <a:ext cx="2754715" cy="2754715"/>
          </a:xfrm>
          <a:custGeom>
            <a:avLst/>
            <a:gdLst/>
            <a:ahLst/>
            <a:cxnLst/>
            <a:rect r="r" b="b" t="t" l="l"/>
            <a:pathLst>
              <a:path h="2754715" w="2754715">
                <a:moveTo>
                  <a:pt x="0" y="0"/>
                </a:moveTo>
                <a:lnTo>
                  <a:pt x="2754715" y="0"/>
                </a:lnTo>
                <a:lnTo>
                  <a:pt x="2754715" y="2754715"/>
                </a:lnTo>
                <a:lnTo>
                  <a:pt x="0" y="2754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26658" y="5313921"/>
            <a:ext cx="2776633" cy="2417292"/>
          </a:xfrm>
          <a:custGeom>
            <a:avLst/>
            <a:gdLst/>
            <a:ahLst/>
            <a:cxnLst/>
            <a:rect r="r" b="b" t="t" l="l"/>
            <a:pathLst>
              <a:path h="2417292" w="2776633">
                <a:moveTo>
                  <a:pt x="0" y="0"/>
                </a:moveTo>
                <a:lnTo>
                  <a:pt x="2776633" y="0"/>
                </a:lnTo>
                <a:lnTo>
                  <a:pt x="2776633" y="2417292"/>
                </a:lnTo>
                <a:lnTo>
                  <a:pt x="0" y="2417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201" r="0" b="-666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4472" y="1740625"/>
            <a:ext cx="2755603" cy="2419955"/>
          </a:xfrm>
          <a:custGeom>
            <a:avLst/>
            <a:gdLst/>
            <a:ahLst/>
            <a:cxnLst/>
            <a:rect r="r" b="b" t="t" l="l"/>
            <a:pathLst>
              <a:path h="2419955" w="2755603">
                <a:moveTo>
                  <a:pt x="0" y="0"/>
                </a:moveTo>
                <a:lnTo>
                  <a:pt x="2755602" y="0"/>
                </a:lnTo>
                <a:lnTo>
                  <a:pt x="2755602" y="2419955"/>
                </a:lnTo>
                <a:lnTo>
                  <a:pt x="0" y="2419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86" r="0" b="-818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4472" y="5313921"/>
            <a:ext cx="2762339" cy="2417292"/>
          </a:xfrm>
          <a:custGeom>
            <a:avLst/>
            <a:gdLst/>
            <a:ahLst/>
            <a:cxnLst/>
            <a:rect r="r" b="b" t="t" l="l"/>
            <a:pathLst>
              <a:path h="2417292" w="2762339">
                <a:moveTo>
                  <a:pt x="0" y="0"/>
                </a:moveTo>
                <a:lnTo>
                  <a:pt x="2762339" y="0"/>
                </a:lnTo>
                <a:lnTo>
                  <a:pt x="2762339" y="2417292"/>
                </a:lnTo>
                <a:lnTo>
                  <a:pt x="0" y="2417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90" r="0" b="-668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81914" y="3945573"/>
            <a:ext cx="2702016" cy="2515947"/>
          </a:xfrm>
          <a:custGeom>
            <a:avLst/>
            <a:gdLst/>
            <a:ahLst/>
            <a:cxnLst/>
            <a:rect r="r" b="b" t="t" l="l"/>
            <a:pathLst>
              <a:path h="2515947" w="2702016">
                <a:moveTo>
                  <a:pt x="0" y="0"/>
                </a:moveTo>
                <a:lnTo>
                  <a:pt x="2702016" y="0"/>
                </a:lnTo>
                <a:lnTo>
                  <a:pt x="2702016" y="2515946"/>
                </a:lnTo>
                <a:lnTo>
                  <a:pt x="0" y="2515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97" r="0" b="-3697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2755320" y="2022138"/>
            <a:ext cx="1719309" cy="171930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946570" y="4317193"/>
            <a:ext cx="1812987" cy="1812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54439" y="2039400"/>
            <a:ext cx="1822405" cy="182240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55320" y="5741892"/>
            <a:ext cx="1680974" cy="16809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922390" y="-947573"/>
            <a:ext cx="5530691" cy="368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6"/>
              </a:lnSpc>
            </a:pPr>
            <a:r>
              <a:rPr lang="en-US" sz="18868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Il Team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8421" y="6251969"/>
            <a:ext cx="3689003" cy="95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1"/>
              </a:lnSpc>
              <a:spcBef>
                <a:spcPct val="0"/>
              </a:spcBef>
            </a:pPr>
            <a:r>
              <a:rPr lang="en-US" sz="4900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 CEO </a:t>
            </a:r>
            <a:r>
              <a:rPr lang="en-US" sz="4900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Gaia Palmisano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10361" y="3847815"/>
            <a:ext cx="3495526" cy="95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PM </a:t>
            </a:r>
            <a:r>
              <a:rPr lang="en-US" sz="48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Giovanni Giuri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73979" y="3736023"/>
            <a:ext cx="3415903" cy="95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CDO </a:t>
            </a:r>
            <a:r>
              <a:rPr lang="en-US" sz="48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Tatiana Solito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471" y="7590472"/>
            <a:ext cx="448091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CIO </a:t>
            </a:r>
            <a:r>
              <a:rPr lang="en-US" sz="47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Giuseppe Lepore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47433" y="7590472"/>
            <a:ext cx="4436418" cy="95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CTO </a:t>
            </a:r>
            <a:r>
              <a:rPr lang="en-US" sz="4899">
                <a:solidFill>
                  <a:srgbClr val="FFFFFF"/>
                </a:solidFill>
                <a:latin typeface="East Sea Dokdo Cyrillic"/>
                <a:ea typeface="East Sea Dokdo Cyrillic"/>
                <a:cs typeface="East Sea Dokdo Cyrillic"/>
                <a:sym typeface="East Sea Dokdo Cyrillic"/>
              </a:rPr>
              <a:t>Federico Manigrasso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143184" y="5544689"/>
            <a:ext cx="1833660" cy="183366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DAG5sfsHKxM</dc:identifier>
  <dcterms:modified xsi:type="dcterms:W3CDTF">2011-08-01T06:04:30Z</dcterms:modified>
  <cp:revision>1</cp:revision>
  <dc:title>Mytilus</dc:title>
</cp:coreProperties>
</file>